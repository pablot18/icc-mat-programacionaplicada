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g"/>
  <Override PartName="/ppt/notesSlides/notesSlide1.xml" ContentType="application/vnd.openxmlformats-officedocument.presentationml.notesSlide+xml"/>
  <Override PartName="/ppt/comments/modernComment_175_F08412E4.xml" ContentType="application/vnd.ms-powerpoint.comments+xml"/>
  <Override PartName="/ppt/notesSlides/notesSlide2.xml" ContentType="application/vnd.openxmlformats-officedocument.presentationml.notesSlide+xml"/>
  <Override PartName="/ppt/comments/modernComment_176_29283EE1.xml" ContentType="application/vnd.ms-powerpoint.comments+xml"/>
  <Override PartName="/ppt/notesSlides/notesSlide3.xml" ContentType="application/vnd.openxmlformats-officedocument.presentationml.notesSlide+xml"/>
  <Override PartName="/ppt/comments/modernComment_177_1C0272FF.xml" ContentType="application/vnd.ms-powerpoint.comment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0" r:id="rId1"/>
  </p:sldMasterIdLst>
  <p:notesMasterIdLst>
    <p:notesMasterId r:id="rId13"/>
  </p:notesMasterIdLst>
  <p:sldIdLst>
    <p:sldId id="261" r:id="rId2"/>
    <p:sldId id="373" r:id="rId3"/>
    <p:sldId id="374" r:id="rId4"/>
    <p:sldId id="375" r:id="rId5"/>
    <p:sldId id="291" r:id="rId6"/>
    <p:sldId id="336" r:id="rId7"/>
    <p:sldId id="376" r:id="rId8"/>
    <p:sldId id="377" r:id="rId9"/>
    <p:sldId id="372" r:id="rId10"/>
    <p:sldId id="371" r:id="rId11"/>
    <p:sldId id="38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FCC73AA-05BC-6148-8882-0E1FB5E6249B}" name="Pablo Andres Torres Peña" initials="PATP" userId="S::ptorresp@ups.edu.ec::113a255b-4caf-4f48-8814-a4510c7565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764"/>
    <a:srgbClr val="0C253F"/>
    <a:srgbClr val="081A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FD1F36-344D-AC45-A473-266C73CF2384}" v="23" dt="2026-10-05T16:56:51.0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781"/>
    <p:restoredTop sz="95367"/>
  </p:normalViewPr>
  <p:slideViewPr>
    <p:cSldViewPr snapToGrid="0">
      <p:cViewPr varScale="1">
        <p:scale>
          <a:sx n="103" d="100"/>
          <a:sy n="103" d="100"/>
        </p:scale>
        <p:origin x="192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Andres Torres Peña" userId="113a255b-4caf-4f48-8814-a4510c756531" providerId="ADAL" clId="{C43DA212-8357-5727-9C4C-A38F3C02E47F}"/>
    <pc:docChg chg="undo custSel addSld delSld modSld">
      <pc:chgData name="Pablo Andres Torres Peña" userId="113a255b-4caf-4f48-8814-a4510c756531" providerId="ADAL" clId="{C43DA212-8357-5727-9C4C-A38F3C02E47F}" dt="2026-10-07T05:37:03.147" v="255" actId="2696"/>
      <pc:docMkLst>
        <pc:docMk/>
      </pc:docMkLst>
      <pc:sldChg chg="del">
        <pc:chgData name="Pablo Andres Torres Peña" userId="113a255b-4caf-4f48-8814-a4510c756531" providerId="ADAL" clId="{C43DA212-8357-5727-9C4C-A38F3C02E47F}" dt="2026-10-07T05:37:03.147" v="255" actId="2696"/>
        <pc:sldMkLst>
          <pc:docMk/>
          <pc:sldMk cId="1410293851" sldId="337"/>
        </pc:sldMkLst>
      </pc:sldChg>
      <pc:sldChg chg="addSp delSp modSp mod">
        <pc:chgData name="Pablo Andres Torres Peña" userId="113a255b-4caf-4f48-8814-a4510c756531" providerId="ADAL" clId="{C43DA212-8357-5727-9C4C-A38F3C02E47F}" dt="2026-10-05T16:57:07.332" v="254" actId="20577"/>
        <pc:sldMkLst>
          <pc:docMk/>
          <pc:sldMk cId="1217071511" sldId="371"/>
        </pc:sldMkLst>
        <pc:spChg chg="mod">
          <ac:chgData name="Pablo Andres Torres Peña" userId="113a255b-4caf-4f48-8814-a4510c756531" providerId="ADAL" clId="{C43DA212-8357-5727-9C4C-A38F3C02E47F}" dt="2026-10-05T16:45:54.818" v="40" actId="1076"/>
          <ac:spMkLst>
            <pc:docMk/>
            <pc:sldMk cId="1217071511" sldId="371"/>
            <ac:spMk id="3" creationId="{01551429-0A55-9C66-AA11-791B713611DF}"/>
          </ac:spMkLst>
        </pc:spChg>
        <pc:graphicFrameChg chg="mod modGraphic">
          <ac:chgData name="Pablo Andres Torres Peña" userId="113a255b-4caf-4f48-8814-a4510c756531" providerId="ADAL" clId="{C43DA212-8357-5727-9C4C-A38F3C02E47F}" dt="2026-10-05T16:57:07.332" v="254" actId="20577"/>
          <ac:graphicFrameMkLst>
            <pc:docMk/>
            <pc:sldMk cId="1217071511" sldId="371"/>
            <ac:graphicFrameMk id="8" creationId="{CA8463A6-A5CD-D8CE-65E4-4420ECCA5556}"/>
          </ac:graphicFrameMkLst>
        </pc:graphicFrameChg>
      </pc:sldChg>
      <pc:sldChg chg="modSp mod">
        <pc:chgData name="Pablo Andres Torres Peña" userId="113a255b-4caf-4f48-8814-a4510c756531" providerId="ADAL" clId="{C43DA212-8357-5727-9C4C-A38F3C02E47F}" dt="2026-10-05T16:43:57.375" v="19" actId="20577"/>
        <pc:sldMkLst>
          <pc:docMk/>
          <pc:sldMk cId="258874443" sldId="372"/>
        </pc:sldMkLst>
        <pc:spChg chg="mod">
          <ac:chgData name="Pablo Andres Torres Peña" userId="113a255b-4caf-4f48-8814-a4510c756531" providerId="ADAL" clId="{C43DA212-8357-5727-9C4C-A38F3C02E47F}" dt="2026-10-05T16:43:57.375" v="19" actId="20577"/>
          <ac:spMkLst>
            <pc:docMk/>
            <pc:sldMk cId="258874443" sldId="372"/>
            <ac:spMk id="3" creationId="{0FE3C8B2-91EF-02BF-C4D0-0496234AB2D9}"/>
          </ac:spMkLst>
        </pc:spChg>
      </pc:sldChg>
      <pc:sldChg chg="modSp add mod">
        <pc:chgData name="Pablo Andres Torres Peña" userId="113a255b-4caf-4f48-8814-a4510c756531" providerId="ADAL" clId="{C43DA212-8357-5727-9C4C-A38F3C02E47F}" dt="2026-10-05T16:55:13.485" v="249" actId="20577"/>
        <pc:sldMkLst>
          <pc:docMk/>
          <pc:sldMk cId="2837133943" sldId="380"/>
        </pc:sldMkLst>
        <pc:spChg chg="mod">
          <ac:chgData name="Pablo Andres Torres Peña" userId="113a255b-4caf-4f48-8814-a4510c756531" providerId="ADAL" clId="{C43DA212-8357-5727-9C4C-A38F3C02E47F}" dt="2026-10-05T16:53:02.410" v="193"/>
          <ac:spMkLst>
            <pc:docMk/>
            <pc:sldMk cId="2837133943" sldId="380"/>
            <ac:spMk id="3" creationId="{C45244C3-306E-0ADC-9E55-C422960825A9}"/>
          </ac:spMkLst>
        </pc:spChg>
        <pc:graphicFrameChg chg="mod modGraphic">
          <ac:chgData name="Pablo Andres Torres Peña" userId="113a255b-4caf-4f48-8814-a4510c756531" providerId="ADAL" clId="{C43DA212-8357-5727-9C4C-A38F3C02E47F}" dt="2026-10-05T16:55:13.485" v="249" actId="20577"/>
          <ac:graphicFrameMkLst>
            <pc:docMk/>
            <pc:sldMk cId="2837133943" sldId="380"/>
            <ac:graphicFrameMk id="8" creationId="{3D378B87-BF19-8400-6157-81D92E67838F}"/>
          </ac:graphicFrameMkLst>
        </pc:graphicFrameChg>
      </pc:sldChg>
    </pc:docChg>
  </pc:docChgLst>
</pc:chgInfo>
</file>

<file path=ppt/comments/modernComment_175_F08412E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47D2ED-A3DB-5A49-B54A-327BBF169267}" authorId="{9FCC73AA-05BC-6148-8882-0E1FB5E6249B}" created="2024-03-25T17:23:31.5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035187428" sldId="373"/>
      <ac:spMk id="24" creationId="{25C602FB-DF71-054C-1946-B59520453E13}"/>
    </ac:deMkLst>
    <p188:txBody>
      <a:bodyPr/>
      <a:lstStyle/>
      <a:p>
        <a:r>
          <a:rPr lang="es-EC"/>
          <a:t>Unidad 1 – Lógica Matemática
Resultado de aprendizaje:
Diseña soluciones a problemas de lógica empleando álgebra de Boole y teoría de proposiciones.
Contenido:
Álgebra de Boole
Teoría de proposiciones</a:t>
        </a:r>
      </a:p>
    </p188:txBody>
  </p188:cm>
</p188:cmLst>
</file>

<file path=ppt/comments/modernComment_176_29283EE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074041D-5FB2-754F-B121-32E99982ECF3}" authorId="{9FCC73AA-05BC-6148-8882-0E1FB5E6249B}" created="2024-03-25T17:23:31.5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90503393" sldId="374"/>
      <ac:spMk id="24" creationId="{F209A11E-C698-1C44-9563-33240DBE46AF}"/>
    </ac:deMkLst>
    <p188:txBody>
      <a:bodyPr/>
      <a:lstStyle/>
      <a:p>
        <a:r>
          <a:rPr lang="es-EC"/>
          <a:t>Unidad 2 – Algoritmos
Resultado de aprendizaje:
Diseña algoritmos para la resolución de problemas.
Contenido:
Formas de representar algoritmos
Estructuras de Control (Decisión, Repetitivas)</a:t>
        </a:r>
      </a:p>
    </p188:txBody>
  </p188:cm>
</p188:cmLst>
</file>

<file path=ppt/comments/modernComment_177_1C0272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91CC9AE-9663-C14C-A46D-A36CDC4FF1D0}" authorId="{9FCC73AA-05BC-6148-8882-0E1FB5E6249B}" created="2024-03-25T17:23:31.5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69922559" sldId="375"/>
      <ac:spMk id="24" creationId="{C3E49262-1908-B94E-B542-C02C3474E51A}"/>
    </ac:deMkLst>
    <p188:txBody>
      <a:bodyPr/>
      <a:lstStyle/>
      <a:p>
        <a:r>
          <a:rPr lang="es-EC"/>
          <a:t>Unidad 3 – Lenguaje de Programación
Resultado de aprendizaje:
Desarrolla aplicaciones utilizando el lenguaje de programación.
Contenido:
Fundamentos (generalidades, tipos de datos, operadores, expresiones, variables)
Funciones
Vectores y Matrices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4BB0B-BA71-4A42-81C8-E391DEF7F035}" type="datetimeFigureOut">
              <a:rPr lang="es-EC" smtClean="0"/>
              <a:t>6/10/26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B1115-3033-1F40-A6BC-58BDB467572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8036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ddb9983989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1ddb9983989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6332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571A659E-B324-0424-7BE0-C00D0EF7D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ddb9983989_0_83:notes">
            <a:extLst>
              <a:ext uri="{FF2B5EF4-FFF2-40B4-BE49-F238E27FC236}">
                <a16:creationId xmlns:a16="http://schemas.microsoft.com/office/drawing/2014/main" id="{A543B7BB-14E8-CD7E-704C-E77CED5D9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1ddb9983989_0_83:notes">
            <a:extLst>
              <a:ext uri="{FF2B5EF4-FFF2-40B4-BE49-F238E27FC236}">
                <a16:creationId xmlns:a16="http://schemas.microsoft.com/office/drawing/2014/main" id="{83CD23CB-0EA9-E8D6-23A8-A8A422CBC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06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49681D98-2C08-DBCF-83B7-EFE035D9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ddb9983989_0_83:notes">
            <a:extLst>
              <a:ext uri="{FF2B5EF4-FFF2-40B4-BE49-F238E27FC236}">
                <a16:creationId xmlns:a16="http://schemas.microsoft.com/office/drawing/2014/main" id="{9A1A4B46-323D-16D2-98B1-1B99720BDD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1ddb9983989_0_83:notes">
            <a:extLst>
              <a:ext uri="{FF2B5EF4-FFF2-40B4-BE49-F238E27FC236}">
                <a16:creationId xmlns:a16="http://schemas.microsoft.com/office/drawing/2014/main" id="{DC565C79-3D36-962E-B386-B5D50FF4D3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7612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7B1115-3033-1F40-A6BC-58BDB4675721}" type="slidenum">
              <a:rPr lang="es-EC" smtClean="0"/>
              <a:t>5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38354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8E3B1-445F-BE43-9CC9-A314056FFDA4}" type="datetimeFigureOut">
              <a:rPr lang="es-EC" smtClean="0"/>
              <a:t>6/10/26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0F8D9D2B-22F6-104D-B250-F05246640CF2}" type="slidenum">
              <a:rPr lang="es-EC" smtClean="0"/>
              <a:t>‹Nº›</a:t>
            </a:fld>
            <a:endParaRPr lang="es-EC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3701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B048E3B1-445F-BE43-9CC9-A314056FFDA4}" type="datetimeFigureOut">
              <a:rPr lang="es-EC" smtClean="0"/>
              <a:t>6/10/26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D9D2B-22F6-104D-B250-F05246640CF2}" type="slidenum">
              <a:rPr lang="es-EC" smtClean="0"/>
              <a:t>‹Nº›</a:t>
            </a:fld>
            <a:endParaRPr lang="es-EC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4187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8E3B1-445F-BE43-9CC9-A314056FFDA4}" type="datetimeFigureOut">
              <a:rPr lang="es-EC" smtClean="0"/>
              <a:t>6/10/26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D9D2B-22F6-104D-B250-F05246640CF2}" type="slidenum">
              <a:rPr lang="es-EC" smtClean="0"/>
              <a:t>‹Nº›</a:t>
            </a:fld>
            <a:endParaRPr lang="es-EC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5928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8E3B1-445F-BE43-9CC9-A314056FFDA4}" type="datetimeFigureOut">
              <a:rPr lang="es-EC" smtClean="0"/>
              <a:t>6/10/26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D9D2B-22F6-104D-B250-F05246640CF2}" type="slidenum">
              <a:rPr lang="es-EC" smtClean="0"/>
              <a:t>‹Nº›</a:t>
            </a:fld>
            <a:endParaRPr lang="es-EC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452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8E3B1-445F-BE43-9CC9-A314056FFDA4}" type="datetimeFigureOut">
              <a:rPr lang="es-EC" smtClean="0"/>
              <a:t>6/10/26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D9D2B-22F6-104D-B250-F05246640CF2}" type="slidenum">
              <a:rPr lang="es-EC" smtClean="0"/>
              <a:t>‹Nº›</a:t>
            </a:fld>
            <a:endParaRPr lang="es-EC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3048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8E3B1-445F-BE43-9CC9-A314056FFDA4}" type="datetimeFigureOut">
              <a:rPr lang="es-EC" smtClean="0"/>
              <a:t>6/10/26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D9D2B-22F6-104D-B250-F05246640CF2}" type="slidenum">
              <a:rPr lang="es-EC" smtClean="0"/>
              <a:t>‹Nº›</a:t>
            </a:fld>
            <a:endParaRPr lang="es-EC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601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8E3B1-445F-BE43-9CC9-A314056FFDA4}" type="datetimeFigureOut">
              <a:rPr lang="es-EC" smtClean="0"/>
              <a:t>6/10/26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D9D2B-22F6-104D-B250-F05246640CF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9933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8E3B1-445F-BE43-9CC9-A314056FFDA4}" type="datetimeFigureOut">
              <a:rPr lang="es-EC" smtClean="0"/>
              <a:t>6/10/26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D9D2B-22F6-104D-B250-F05246640CF2}" type="slidenum">
              <a:rPr lang="es-EC" smtClean="0"/>
              <a:t>‹Nº›</a:t>
            </a:fld>
            <a:endParaRPr lang="es-EC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9603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B048E3B1-445F-BE43-9CC9-A314056FFDA4}" type="datetimeFigureOut">
              <a:rPr lang="es-EC" smtClean="0"/>
              <a:t>6/10/26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0F8D9D2B-22F6-104D-B250-F05246640CF2}" type="slidenum">
              <a:rPr lang="es-EC" smtClean="0"/>
              <a:t>‹Nº›</a:t>
            </a:fld>
            <a:endParaRPr lang="es-EC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761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8E3B1-445F-BE43-9CC9-A314056FFDA4}" type="datetimeFigureOut">
              <a:rPr lang="es-EC" smtClean="0"/>
              <a:t>6/10/26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D9D2B-22F6-104D-B250-F05246640CF2}" type="slidenum">
              <a:rPr lang="es-EC" smtClean="0"/>
              <a:t>‹Nº›</a:t>
            </a:fld>
            <a:endParaRPr lang="es-EC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146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8E3B1-445F-BE43-9CC9-A314056FFDA4}" type="datetimeFigureOut">
              <a:rPr lang="es-EC" smtClean="0"/>
              <a:t>6/10/26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D9D2B-22F6-104D-B250-F05246640CF2}" type="slidenum">
              <a:rPr lang="es-EC" smtClean="0"/>
              <a:t>‹Nº›</a:t>
            </a:fld>
            <a:endParaRPr lang="es-EC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577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8E3B1-445F-BE43-9CC9-A314056FFDA4}" type="datetimeFigureOut">
              <a:rPr lang="es-EC" smtClean="0"/>
              <a:t>6/10/26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F8D9D2B-22F6-104D-B250-F05246640CF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55693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5_F08412E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6_29283E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7_1C0272FF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ptorresp@ups.edu.ec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3076ED13-5021-7E15-A95F-F39B4BAB8DF1}"/>
              </a:ext>
            </a:extLst>
          </p:cNvPr>
          <p:cNvGrpSpPr/>
          <p:nvPr/>
        </p:nvGrpSpPr>
        <p:grpSpPr>
          <a:xfrm>
            <a:off x="0" y="0"/>
            <a:ext cx="12191999" cy="6858000"/>
            <a:chOff x="0" y="4"/>
            <a:chExt cx="12191999" cy="6857996"/>
          </a:xfrm>
        </p:grpSpPr>
        <p:pic>
          <p:nvPicPr>
            <p:cNvPr id="4" name="object 2">
              <a:extLst>
                <a:ext uri="{FF2B5EF4-FFF2-40B4-BE49-F238E27FC236}">
                  <a16:creationId xmlns:a16="http://schemas.microsoft.com/office/drawing/2014/main" id="{81257581-A65A-78F1-5261-689DF18B7B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"/>
              <a:ext cx="12191999" cy="6857996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8688E11F-F929-3E3C-3C37-7C53FADCA91F}"/>
                </a:ext>
              </a:extLst>
            </p:cNvPr>
            <p:cNvSpPr/>
            <p:nvPr/>
          </p:nvSpPr>
          <p:spPr>
            <a:xfrm>
              <a:off x="147484" y="33183"/>
              <a:ext cx="1725561" cy="346587"/>
            </a:xfrm>
            <a:prstGeom prst="rect">
              <a:avLst/>
            </a:prstGeom>
            <a:solidFill>
              <a:srgbClr val="0C253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  <p:sp>
        <p:nvSpPr>
          <p:cNvPr id="8" name="Shape 1157">
            <a:extLst>
              <a:ext uri="{FF2B5EF4-FFF2-40B4-BE49-F238E27FC236}">
                <a16:creationId xmlns:a16="http://schemas.microsoft.com/office/drawing/2014/main" id="{C895CFAB-910E-756E-F4DD-EB49D3E4A030}"/>
              </a:ext>
            </a:extLst>
          </p:cNvPr>
          <p:cNvSpPr/>
          <p:nvPr/>
        </p:nvSpPr>
        <p:spPr>
          <a:xfrm>
            <a:off x="764753" y="2236405"/>
            <a:ext cx="4435475" cy="0"/>
          </a:xfrm>
          <a:custGeom>
            <a:avLst/>
            <a:gdLst/>
            <a:ahLst/>
            <a:cxnLst/>
            <a:rect l="0" t="0" r="0" b="0"/>
            <a:pathLst>
              <a:path w="4436110">
                <a:moveTo>
                  <a:pt x="0" y="0"/>
                </a:moveTo>
                <a:lnTo>
                  <a:pt x="4436110" y="0"/>
                </a:lnTo>
              </a:path>
            </a:pathLst>
          </a:custGeom>
          <a:ln w="6350" cap="flat">
            <a:miter lim="127000"/>
          </a:ln>
        </p:spPr>
        <p:style>
          <a:lnRef idx="1">
            <a:srgbClr val="E9B53B"/>
          </a:lnRef>
          <a:fillRef idx="0">
            <a:srgbClr val="000000">
              <a:alpha val="0"/>
            </a:srgbClr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es-MX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4D25A21-645D-5CB7-E3CE-023EE46C8694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alphaModFix amt="35000"/>
          </a:blip>
          <a:stretch>
            <a:fillRect/>
          </a:stretch>
        </p:blipFill>
        <p:spPr>
          <a:xfrm>
            <a:off x="6880830" y="3756711"/>
            <a:ext cx="7052032" cy="3342581"/>
          </a:xfrm>
          <a:prstGeom prst="rect">
            <a:avLst/>
          </a:prstGeom>
        </p:spPr>
      </p:pic>
      <p:sp>
        <p:nvSpPr>
          <p:cNvPr id="13" name="Rectangle 1154">
            <a:extLst>
              <a:ext uri="{FF2B5EF4-FFF2-40B4-BE49-F238E27FC236}">
                <a16:creationId xmlns:a16="http://schemas.microsoft.com/office/drawing/2014/main" id="{A55030A1-E241-8938-7EF4-72100A518B4B}"/>
              </a:ext>
            </a:extLst>
          </p:cNvPr>
          <p:cNvSpPr/>
          <p:nvPr/>
        </p:nvSpPr>
        <p:spPr>
          <a:xfrm>
            <a:off x="880366" y="1290255"/>
            <a:ext cx="10546881" cy="94615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C" sz="5500" dirty="0">
                <a:solidFill>
                  <a:srgbClr val="E9B53B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Programación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EC" sz="5500" dirty="0">
              <a:solidFill>
                <a:srgbClr val="E9B53B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s-EC" sz="5500" dirty="0">
                <a:solidFill>
                  <a:srgbClr val="E9B53B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s-EC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686374-D008-A6E3-0373-D5AEFAB68208}"/>
              </a:ext>
            </a:extLst>
          </p:cNvPr>
          <p:cNvSpPr txBox="1">
            <a:spLocks/>
          </p:cNvSpPr>
          <p:nvPr/>
        </p:nvSpPr>
        <p:spPr>
          <a:xfrm>
            <a:off x="1006634" y="4559413"/>
            <a:ext cx="4435475" cy="1737179"/>
          </a:xfrm>
          <a:prstGeom prst="rect">
            <a:avLst/>
          </a:prstGeom>
        </p:spPr>
        <p:txBody>
          <a:bodyPr vert="horz" lIns="91440" tIns="45720" rIns="9144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EC" sz="2800" b="1" dirty="0">
                <a:solidFill>
                  <a:srgbClr val="E4E6E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Ingenieraen Ciencias de la Computación</a:t>
            </a:r>
            <a:br>
              <a:rPr lang="es-EC" sz="2800" b="1" dirty="0">
                <a:solidFill>
                  <a:srgbClr val="E4E6EB"/>
                </a:solidFill>
                <a:latin typeface="system-ui"/>
              </a:rPr>
            </a:br>
            <a:endParaRPr lang="es-EC" sz="2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4466E-193D-6BFB-9A46-1EBCCCCF9187}"/>
              </a:ext>
            </a:extLst>
          </p:cNvPr>
          <p:cNvSpPr txBox="1"/>
          <p:nvPr/>
        </p:nvSpPr>
        <p:spPr>
          <a:xfrm>
            <a:off x="880366" y="2298587"/>
            <a:ext cx="3038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>
                <a:solidFill>
                  <a:schemeClr val="bg1"/>
                </a:solidFill>
              </a:rPr>
              <a:t>Pablo Torres P.</a:t>
            </a:r>
          </a:p>
          <a:p>
            <a:r>
              <a:rPr lang="es-EC" sz="1400" dirty="0">
                <a:solidFill>
                  <a:schemeClr val="bg1"/>
                </a:solidFill>
              </a:rPr>
              <a:t>ptorresp@ups.edu.ec</a:t>
            </a:r>
          </a:p>
        </p:txBody>
      </p:sp>
    </p:spTree>
    <p:extLst>
      <p:ext uri="{BB962C8B-B14F-4D97-AF65-F5344CB8AC3E}">
        <p14:creationId xmlns:p14="http://schemas.microsoft.com/office/powerpoint/2010/main" val="276529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6EFA2496-86C2-4E8C-50A0-579900158FE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0" y="10"/>
            <a:ext cx="12191980" cy="6857990"/>
            <a:chOff x="0" y="0"/>
            <a:chExt cx="12191980" cy="6857990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51C74DE6-B319-2C73-3DDE-D040A08BFA9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2191980" cy="6857990"/>
              <a:chOff x="0" y="0"/>
              <a:chExt cx="12191980" cy="6857990"/>
            </a:xfrm>
          </p:grpSpPr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53A65E8D-80EB-F6A1-CDDE-0BF8A1FB8C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4"/>
              <a:srcRect/>
              <a:stretch/>
            </p:blipFill>
            <p:spPr>
              <a:xfrm>
                <a:off x="0" y="0"/>
                <a:ext cx="12191980" cy="6857990"/>
              </a:xfrm>
              <a:prstGeom prst="rect">
                <a:avLst/>
              </a:prstGeom>
            </p:spPr>
          </p:pic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26F9A746-D792-88C8-18A6-2CDD9E1BBA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52080" y="122784"/>
                <a:ext cx="1739900" cy="468240"/>
              </a:xfrm>
              <a:prstGeom prst="rect">
                <a:avLst/>
              </a:prstGeom>
            </p:spPr>
          </p:pic>
        </p:grp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4A28EEBF-8657-7C86-6360-13E6272BE5F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79306" y="135847"/>
              <a:ext cx="2366148" cy="346198"/>
            </a:xfrm>
            <a:prstGeom prst="rect">
              <a:avLst/>
            </a:prstGeom>
          </p:spPr>
        </p:pic>
      </p:grpSp>
      <p:cxnSp>
        <p:nvCxnSpPr>
          <p:cNvPr id="20" name="Google Shape;219;p37">
            <a:extLst>
              <a:ext uri="{FF2B5EF4-FFF2-40B4-BE49-F238E27FC236}">
                <a16:creationId xmlns:a16="http://schemas.microsoft.com/office/drawing/2014/main" id="{DD07B618-EFDF-029D-ED30-5F151E3B31E2}"/>
              </a:ext>
            </a:extLst>
          </p:cNvPr>
          <p:cNvCxnSpPr>
            <a:cxnSpLocks/>
          </p:cNvCxnSpPr>
          <p:nvPr/>
        </p:nvCxnSpPr>
        <p:spPr>
          <a:xfrm>
            <a:off x="676330" y="1595263"/>
            <a:ext cx="7050041" cy="0"/>
          </a:xfrm>
          <a:prstGeom prst="straightConnector1">
            <a:avLst/>
          </a:prstGeom>
          <a:noFill/>
          <a:ln w="19050" cap="flat" cmpd="sng">
            <a:solidFill>
              <a:srgbClr val="323F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7;p37">
            <a:extLst>
              <a:ext uri="{FF2B5EF4-FFF2-40B4-BE49-F238E27FC236}">
                <a16:creationId xmlns:a16="http://schemas.microsoft.com/office/drawing/2014/main" id="{E18F2D63-BC2C-13A1-AC3D-C1DB1FAE2117}"/>
              </a:ext>
            </a:extLst>
          </p:cNvPr>
          <p:cNvSpPr txBox="1"/>
          <p:nvPr/>
        </p:nvSpPr>
        <p:spPr>
          <a:xfrm>
            <a:off x="778998" y="1128009"/>
            <a:ext cx="9180187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buSzPts val="1100"/>
            </a:pPr>
            <a:r>
              <a:rPr lang="es-EC" sz="2800" dirty="0">
                <a:solidFill>
                  <a:srgbClr val="1F3864"/>
                </a:solidFill>
                <a:latin typeface="Roboto"/>
                <a:ea typeface="Roboto"/>
                <a:cs typeface="Roboto"/>
                <a:sym typeface="Roboto"/>
              </a:rPr>
              <a:t>Programming</a:t>
            </a:r>
          </a:p>
        </p:txBody>
      </p:sp>
      <p:sp>
        <p:nvSpPr>
          <p:cNvPr id="22" name="Google Shape;218;p37">
            <a:extLst>
              <a:ext uri="{FF2B5EF4-FFF2-40B4-BE49-F238E27FC236}">
                <a16:creationId xmlns:a16="http://schemas.microsoft.com/office/drawing/2014/main" id="{97E4DBDB-8F8C-D2B5-39F8-281AF89813D2}"/>
              </a:ext>
            </a:extLst>
          </p:cNvPr>
          <p:cNvSpPr txBox="1"/>
          <p:nvPr/>
        </p:nvSpPr>
        <p:spPr>
          <a:xfrm>
            <a:off x="676330" y="2032547"/>
            <a:ext cx="9180189" cy="65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s-EC" sz="38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Unit 1 – Mathematical Logic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5C602FB-DF71-054C-1946-B59520453E13}"/>
              </a:ext>
            </a:extLst>
          </p:cNvPr>
          <p:cNvSpPr txBox="1"/>
          <p:nvPr/>
        </p:nvSpPr>
        <p:spPr>
          <a:xfrm>
            <a:off x="676330" y="3034660"/>
            <a:ext cx="97757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b="1" dirty="0">
                <a:solidFill>
                  <a:schemeClr val="bg1"/>
                </a:solidFill>
                <a:latin typeface="Söhne"/>
              </a:rPr>
              <a:t>Learning outcome:</a:t>
            </a:r>
            <a:br>
              <a:rPr lang="es-EC" b="1" dirty="0">
                <a:solidFill>
                  <a:schemeClr val="bg1"/>
                </a:solidFill>
                <a:latin typeface="Söhne"/>
              </a:rPr>
            </a:br>
            <a:r>
              <a:rPr lang="es-EC" dirty="0">
                <a:solidFill>
                  <a:schemeClr val="bg1"/>
                </a:solidFill>
                <a:latin typeface="Söhne"/>
              </a:rPr>
              <a:t>Designs solutions to logic problems using Boolean algebra and propositional theory.</a:t>
            </a:r>
          </a:p>
          <a:p>
            <a:endParaRPr lang="es-EC" b="1" dirty="0">
              <a:solidFill>
                <a:schemeClr val="bg1"/>
              </a:solidFill>
              <a:latin typeface="Söhne"/>
            </a:endParaRPr>
          </a:p>
          <a:p>
            <a:pPr marL="342900" indent="-342900">
              <a:buAutoNum type="arabicPeriod"/>
            </a:pPr>
            <a:endParaRPr lang="es-EC" b="1" dirty="0">
              <a:solidFill>
                <a:schemeClr val="bg1"/>
              </a:solidFill>
              <a:latin typeface="Söhne"/>
            </a:endParaRPr>
          </a:p>
          <a:p>
            <a:r>
              <a:rPr lang="es-EC" b="1" dirty="0">
                <a:solidFill>
                  <a:schemeClr val="bg1"/>
                </a:solidFill>
              </a:rPr>
              <a:t>Content:</a:t>
            </a:r>
          </a:p>
          <a:p>
            <a:pPr marL="342900" indent="-342900">
              <a:buAutoNum type="arabicPeriod"/>
            </a:pPr>
            <a:r>
              <a:rPr lang="es-EC" dirty="0">
                <a:solidFill>
                  <a:schemeClr val="bg1"/>
                </a:solidFill>
                <a:latin typeface="Söhne"/>
              </a:rPr>
              <a:t>Boolean Algebra</a:t>
            </a:r>
          </a:p>
          <a:p>
            <a:pPr marL="342900" indent="-342900">
              <a:buAutoNum type="arabicPeriod"/>
            </a:pPr>
            <a:r>
              <a:rPr lang="es-EC" dirty="0">
                <a:solidFill>
                  <a:schemeClr val="bg1"/>
                </a:solidFill>
                <a:latin typeface="Söhne"/>
              </a:rPr>
              <a:t>Propositional Theory</a:t>
            </a:r>
          </a:p>
          <a:p>
            <a:pPr marL="342900" indent="-342900">
              <a:buAutoNum type="arabicPeriod"/>
            </a:pPr>
            <a:endParaRPr lang="es-EC" b="1" dirty="0">
              <a:solidFill>
                <a:schemeClr val="bg1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035187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5768E3F2-CBFC-ED78-755F-508594FDA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AF15127-FED9-3879-7A8F-AEC092B2479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0" y="10"/>
            <a:ext cx="12191980" cy="6857990"/>
            <a:chOff x="0" y="0"/>
            <a:chExt cx="12191980" cy="6857990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1EBFF86A-DF5D-365A-61E1-9BAFF99977C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2191980" cy="6857990"/>
              <a:chOff x="0" y="0"/>
              <a:chExt cx="12191980" cy="6857990"/>
            </a:xfrm>
          </p:grpSpPr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FA0FE641-DA50-53A7-4CD0-C1A837085C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4"/>
              <a:srcRect/>
              <a:stretch/>
            </p:blipFill>
            <p:spPr>
              <a:xfrm>
                <a:off x="0" y="0"/>
                <a:ext cx="12191980" cy="6857990"/>
              </a:xfrm>
              <a:prstGeom prst="rect">
                <a:avLst/>
              </a:prstGeom>
            </p:spPr>
          </p:pic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25579B46-FE7A-4846-B2AB-AE0B24F6AE7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52080" y="122784"/>
                <a:ext cx="1739900" cy="468240"/>
              </a:xfrm>
              <a:prstGeom prst="rect">
                <a:avLst/>
              </a:prstGeom>
            </p:spPr>
          </p:pic>
        </p:grp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DC037971-74C9-4CAD-8BC6-90ABEDBA060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79306" y="135847"/>
              <a:ext cx="2366148" cy="346198"/>
            </a:xfrm>
            <a:prstGeom prst="rect">
              <a:avLst/>
            </a:prstGeom>
          </p:spPr>
        </p:pic>
      </p:grpSp>
      <p:cxnSp>
        <p:nvCxnSpPr>
          <p:cNvPr id="20" name="Google Shape;219;p37">
            <a:extLst>
              <a:ext uri="{FF2B5EF4-FFF2-40B4-BE49-F238E27FC236}">
                <a16:creationId xmlns:a16="http://schemas.microsoft.com/office/drawing/2014/main" id="{94ECD3A2-A88F-A71E-86E9-A812ED52FD0E}"/>
              </a:ext>
            </a:extLst>
          </p:cNvPr>
          <p:cNvCxnSpPr>
            <a:cxnSpLocks/>
          </p:cNvCxnSpPr>
          <p:nvPr/>
        </p:nvCxnSpPr>
        <p:spPr>
          <a:xfrm>
            <a:off x="676330" y="1595263"/>
            <a:ext cx="7050041" cy="0"/>
          </a:xfrm>
          <a:prstGeom prst="straightConnector1">
            <a:avLst/>
          </a:prstGeom>
          <a:noFill/>
          <a:ln w="19050" cap="flat" cmpd="sng">
            <a:solidFill>
              <a:srgbClr val="323F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7;p37">
            <a:extLst>
              <a:ext uri="{FF2B5EF4-FFF2-40B4-BE49-F238E27FC236}">
                <a16:creationId xmlns:a16="http://schemas.microsoft.com/office/drawing/2014/main" id="{11C5A1F3-F8CF-9DE9-EF73-B2E248B4ACBF}"/>
              </a:ext>
            </a:extLst>
          </p:cNvPr>
          <p:cNvSpPr txBox="1"/>
          <p:nvPr/>
        </p:nvSpPr>
        <p:spPr>
          <a:xfrm>
            <a:off x="778998" y="1128009"/>
            <a:ext cx="9180187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buSzPts val="1100"/>
            </a:pPr>
            <a:r>
              <a:rPr lang="es-EC" sz="2800" dirty="0">
                <a:solidFill>
                  <a:srgbClr val="1F3864"/>
                </a:solidFill>
                <a:latin typeface="Roboto"/>
                <a:ea typeface="Roboto"/>
                <a:cs typeface="Roboto"/>
                <a:sym typeface="Roboto"/>
              </a:rPr>
              <a:t>Programming</a:t>
            </a:r>
          </a:p>
        </p:txBody>
      </p:sp>
      <p:sp>
        <p:nvSpPr>
          <p:cNvPr id="22" name="Google Shape;218;p37">
            <a:extLst>
              <a:ext uri="{FF2B5EF4-FFF2-40B4-BE49-F238E27FC236}">
                <a16:creationId xmlns:a16="http://schemas.microsoft.com/office/drawing/2014/main" id="{954EC151-FA5F-8AAE-516F-5C55E19B1B04}"/>
              </a:ext>
            </a:extLst>
          </p:cNvPr>
          <p:cNvSpPr txBox="1"/>
          <p:nvPr/>
        </p:nvSpPr>
        <p:spPr>
          <a:xfrm>
            <a:off x="676330" y="2032547"/>
            <a:ext cx="9180189" cy="65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s-EC" sz="38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Unit 2 – Algorithms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209A11E-C698-1C44-9563-33240DBE46AF}"/>
              </a:ext>
            </a:extLst>
          </p:cNvPr>
          <p:cNvSpPr txBox="1"/>
          <p:nvPr/>
        </p:nvSpPr>
        <p:spPr>
          <a:xfrm>
            <a:off x="676330" y="3034660"/>
            <a:ext cx="97757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b="1" dirty="0">
                <a:solidFill>
                  <a:schemeClr val="bg1"/>
                </a:solidFill>
                <a:latin typeface="Söhne"/>
              </a:rPr>
              <a:t>Learning outcome:</a:t>
            </a:r>
            <a:br>
              <a:rPr lang="es-EC" b="1" dirty="0">
                <a:solidFill>
                  <a:schemeClr val="bg1"/>
                </a:solidFill>
                <a:latin typeface="Söhne"/>
              </a:rPr>
            </a:br>
            <a:r>
              <a:rPr lang="es-EC" dirty="0">
                <a:solidFill>
                  <a:schemeClr val="bg1"/>
                </a:solidFill>
                <a:latin typeface="Söhne"/>
              </a:rPr>
              <a:t>Designs algorithms for problem solving.</a:t>
            </a:r>
          </a:p>
          <a:p>
            <a:endParaRPr lang="es-EC" b="1" dirty="0">
              <a:solidFill>
                <a:schemeClr val="bg1"/>
              </a:solidFill>
              <a:latin typeface="Söhne"/>
            </a:endParaRPr>
          </a:p>
          <a:p>
            <a:pPr marL="342900" indent="-342900">
              <a:buAutoNum type="arabicPeriod"/>
            </a:pPr>
            <a:endParaRPr lang="es-EC" b="1" dirty="0">
              <a:solidFill>
                <a:schemeClr val="bg1"/>
              </a:solidFill>
              <a:latin typeface="Söhne"/>
            </a:endParaRPr>
          </a:p>
          <a:p>
            <a:r>
              <a:rPr lang="es-EC" b="1" dirty="0">
                <a:solidFill>
                  <a:schemeClr val="bg1"/>
                </a:solidFill>
              </a:rPr>
              <a:t>Content:</a:t>
            </a:r>
          </a:p>
          <a:p>
            <a:pPr marL="342900" indent="-342900">
              <a:buAutoNum type="arabicPeriod"/>
            </a:pPr>
            <a:r>
              <a:rPr lang="es-EC" dirty="0">
                <a:solidFill>
                  <a:schemeClr val="bg1"/>
                </a:solidFill>
                <a:latin typeface="Söhne"/>
              </a:rPr>
              <a:t>Ways to represent algorithms</a:t>
            </a:r>
          </a:p>
          <a:p>
            <a:pPr marL="342900" indent="-342900">
              <a:buAutoNum type="arabicPeriod"/>
            </a:pPr>
            <a:r>
              <a:rPr lang="es-EC" dirty="0">
                <a:solidFill>
                  <a:schemeClr val="bg1"/>
                </a:solidFill>
                <a:latin typeface="Söhne"/>
              </a:rPr>
              <a:t>Control Structures (Decision, Loops)</a:t>
            </a:r>
          </a:p>
          <a:p>
            <a:pPr marL="342900" indent="-342900">
              <a:buAutoNum type="arabicPeriod"/>
            </a:pPr>
            <a:endParaRPr lang="es-EC" b="1" dirty="0">
              <a:solidFill>
                <a:schemeClr val="bg1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6905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6A3AAAAC-3AF3-6D06-25D9-393DC672B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C8667B34-E958-C5CA-F913-7E58F8D5A8D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0" y="10"/>
            <a:ext cx="12191980" cy="6857990"/>
            <a:chOff x="0" y="0"/>
            <a:chExt cx="12191980" cy="6857990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9DA4D8E6-8657-0FCB-875A-887905E5261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0" y="0"/>
              <a:ext cx="12191980" cy="6857990"/>
              <a:chOff x="0" y="0"/>
              <a:chExt cx="12191980" cy="6857990"/>
            </a:xfrm>
          </p:grpSpPr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09B59DF0-942A-D6AB-93CB-781AD84E319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 rotWithShape="1">
              <a:blip r:embed="rId4"/>
              <a:srcRect/>
              <a:stretch/>
            </p:blipFill>
            <p:spPr>
              <a:xfrm>
                <a:off x="0" y="0"/>
                <a:ext cx="12191980" cy="6857990"/>
              </a:xfrm>
              <a:prstGeom prst="rect">
                <a:avLst/>
              </a:prstGeom>
            </p:spPr>
          </p:pic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73CC3CD1-916E-A0DC-90AD-DECB221DDCF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52080" y="122784"/>
                <a:ext cx="1739900" cy="468240"/>
              </a:xfrm>
              <a:prstGeom prst="rect">
                <a:avLst/>
              </a:prstGeom>
            </p:spPr>
          </p:pic>
        </p:grp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F91EF24F-16A8-4A46-B067-951F1441D0D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79306" y="135847"/>
              <a:ext cx="2366148" cy="346198"/>
            </a:xfrm>
            <a:prstGeom prst="rect">
              <a:avLst/>
            </a:prstGeom>
          </p:spPr>
        </p:pic>
      </p:grpSp>
      <p:cxnSp>
        <p:nvCxnSpPr>
          <p:cNvPr id="20" name="Google Shape;219;p37">
            <a:extLst>
              <a:ext uri="{FF2B5EF4-FFF2-40B4-BE49-F238E27FC236}">
                <a16:creationId xmlns:a16="http://schemas.microsoft.com/office/drawing/2014/main" id="{343DFFA0-D08B-9B89-D33A-3F5708FE55DA}"/>
              </a:ext>
            </a:extLst>
          </p:cNvPr>
          <p:cNvCxnSpPr>
            <a:cxnSpLocks/>
          </p:cNvCxnSpPr>
          <p:nvPr/>
        </p:nvCxnSpPr>
        <p:spPr>
          <a:xfrm>
            <a:off x="676330" y="1595263"/>
            <a:ext cx="7050041" cy="0"/>
          </a:xfrm>
          <a:prstGeom prst="straightConnector1">
            <a:avLst/>
          </a:prstGeom>
          <a:noFill/>
          <a:ln w="19050" cap="flat" cmpd="sng">
            <a:solidFill>
              <a:srgbClr val="323F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7;p37">
            <a:extLst>
              <a:ext uri="{FF2B5EF4-FFF2-40B4-BE49-F238E27FC236}">
                <a16:creationId xmlns:a16="http://schemas.microsoft.com/office/drawing/2014/main" id="{C8E041BE-C3C3-4219-C193-39BE9D5E28CE}"/>
              </a:ext>
            </a:extLst>
          </p:cNvPr>
          <p:cNvSpPr txBox="1"/>
          <p:nvPr/>
        </p:nvSpPr>
        <p:spPr>
          <a:xfrm>
            <a:off x="778998" y="1128009"/>
            <a:ext cx="9180187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buSzPts val="1100"/>
            </a:pPr>
            <a:r>
              <a:rPr lang="es-EC" sz="2800" dirty="0">
                <a:solidFill>
                  <a:srgbClr val="1F3864"/>
                </a:solidFill>
                <a:latin typeface="Roboto"/>
                <a:ea typeface="Roboto"/>
                <a:cs typeface="Roboto"/>
                <a:sym typeface="Roboto"/>
              </a:rPr>
              <a:t>Programming</a:t>
            </a:r>
          </a:p>
        </p:txBody>
      </p:sp>
      <p:sp>
        <p:nvSpPr>
          <p:cNvPr id="22" name="Google Shape;218;p37">
            <a:extLst>
              <a:ext uri="{FF2B5EF4-FFF2-40B4-BE49-F238E27FC236}">
                <a16:creationId xmlns:a16="http://schemas.microsoft.com/office/drawing/2014/main" id="{80C9F339-8B83-AC5F-EE4D-08ACA866568F}"/>
              </a:ext>
            </a:extLst>
          </p:cNvPr>
          <p:cNvSpPr txBox="1"/>
          <p:nvPr/>
        </p:nvSpPr>
        <p:spPr>
          <a:xfrm>
            <a:off x="676330" y="2032547"/>
            <a:ext cx="9180189" cy="65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r>
              <a:rPr lang="es-EC" sz="3800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Unit 3 – Programming Language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3E49262-1908-B94E-B542-C02C3474E51A}"/>
              </a:ext>
            </a:extLst>
          </p:cNvPr>
          <p:cNvSpPr txBox="1"/>
          <p:nvPr/>
        </p:nvSpPr>
        <p:spPr>
          <a:xfrm>
            <a:off x="676330" y="3034660"/>
            <a:ext cx="97757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b="1" dirty="0">
                <a:solidFill>
                  <a:schemeClr val="bg1"/>
                </a:solidFill>
                <a:latin typeface="Söhne"/>
              </a:rPr>
              <a:t>Learning outcome:</a:t>
            </a:r>
            <a:br>
              <a:rPr lang="es-EC" b="1" dirty="0">
                <a:solidFill>
                  <a:schemeClr val="bg1"/>
                </a:solidFill>
                <a:latin typeface="Söhne"/>
              </a:rPr>
            </a:br>
            <a:r>
              <a:rPr lang="es-EC" dirty="0">
                <a:solidFill>
                  <a:schemeClr val="bg1"/>
                </a:solidFill>
                <a:latin typeface="Söhne"/>
              </a:rPr>
              <a:t>Develops applications using a programming language.</a:t>
            </a:r>
          </a:p>
          <a:p>
            <a:endParaRPr lang="es-EC" b="1" dirty="0">
              <a:solidFill>
                <a:schemeClr val="bg1"/>
              </a:solidFill>
              <a:latin typeface="Söhne"/>
            </a:endParaRPr>
          </a:p>
          <a:p>
            <a:r>
              <a:rPr lang="es-EC" b="1" dirty="0">
                <a:solidFill>
                  <a:schemeClr val="bg1"/>
                </a:solidFill>
                <a:latin typeface="Söhne"/>
              </a:rPr>
              <a:t>Content: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bg1"/>
                </a:solidFill>
                <a:latin typeface="Söhne"/>
              </a:rPr>
              <a:t>Fundamentals (general concepts, data types, operators, expressions, variables)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bg1"/>
                </a:solidFill>
                <a:latin typeface="Söhne"/>
              </a:rPr>
              <a:t>Functions</a:t>
            </a:r>
          </a:p>
          <a:p>
            <a:pPr marL="342900" indent="-342900">
              <a:buFont typeface="+mj-lt"/>
              <a:buAutoNum type="arabicPeriod"/>
            </a:pPr>
            <a:r>
              <a:rPr lang="es-EC" dirty="0">
                <a:solidFill>
                  <a:schemeClr val="bg1"/>
                </a:solidFill>
                <a:latin typeface="Söhne"/>
              </a:rPr>
              <a:t>Vectors and Matrices</a:t>
            </a:r>
          </a:p>
        </p:txBody>
      </p:sp>
    </p:spTree>
    <p:extLst>
      <p:ext uri="{BB962C8B-B14F-4D97-AF65-F5344CB8AC3E}">
        <p14:creationId xmlns:p14="http://schemas.microsoft.com/office/powerpoint/2010/main" val="469922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6C4AC067-D504-471C-8EA7-D3CB990B8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5725D68-8A0E-415C-AF7F-3771B66B9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BE714B4-F36E-4926-93B3-190E5EC13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6C6CF9F7-5642-4F7B-8A15-C78EA0AB9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4" descr="CPU con números binarios y placa base">
            <a:extLst>
              <a:ext uri="{FF2B5EF4-FFF2-40B4-BE49-F238E27FC236}">
                <a16:creationId xmlns:a16="http://schemas.microsoft.com/office/drawing/2014/main" id="{EE9B7573-3533-F5DB-4105-7AC897E863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"/>
          <a:stretch/>
        </p:blipFill>
        <p:spPr>
          <a:xfrm>
            <a:off x="20" y="10"/>
            <a:ext cx="12191675" cy="685799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719607D7-FF4E-44E3-9C3F-86AA4D44F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30686" y="4754483"/>
            <a:ext cx="5610646" cy="1601330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BF4447-D781-022C-DBEB-234C236F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2" y="5239131"/>
            <a:ext cx="5279490" cy="96008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rgbClr val="FFFFFE"/>
                </a:solidFill>
                <a:sym typeface="Roboto"/>
              </a:rPr>
              <a:t>Programming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C3919EB-D15F-420D-ACCC-230A8D55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53440" b="36564"/>
          <a:stretch/>
        </p:blipFill>
        <p:spPr>
          <a:xfrm>
            <a:off x="6077476" y="4920257"/>
            <a:ext cx="532180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662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D6260-02C9-6AAB-E39B-51A3AC9CC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dirty="0">
                <a:solidFill>
                  <a:srgbClr val="002060"/>
                </a:solidFill>
              </a:rPr>
              <a:t>Introducción a la Asignatura: Programación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6346E0-D94E-4705-C60D-006B9C6C7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C" sz="2400" dirty="0"/>
              <a:t>La programación es una disciplina fundamental en el área de la computación, que permite resolver problemas mediante el diseño de algoritmos y su implementación en un lenguaje de programación.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8CD15A7-0CC7-C3C3-5326-4759411E0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422" y="6225833"/>
            <a:ext cx="3696789" cy="54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59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F14A9-6016-0621-407A-3ABA803B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0C197-238F-7F05-7597-FE6C4FCA7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dirty="0">
                <a:solidFill>
                  <a:srgbClr val="002060"/>
                </a:solidFill>
              </a:rPr>
              <a:t>Introducción a la Asignatura: Programación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E7BD83-D6F7-1CCE-0DAE-1A0F6A3CA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422" y="6225833"/>
            <a:ext cx="3696789" cy="540888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2F22F76-C52C-47A8-FD1E-61169CC2FB1F}"/>
              </a:ext>
            </a:extLst>
          </p:cNvPr>
          <p:cNvSpPr txBox="1">
            <a:spLocks/>
          </p:cNvSpPr>
          <p:nvPr/>
        </p:nvSpPr>
        <p:spPr>
          <a:xfrm>
            <a:off x="1130270" y="2104823"/>
            <a:ext cx="9603275" cy="6572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C"/>
              <a:t>Los programadores nos dedicamos a procesar datos.</a:t>
            </a:r>
            <a:endParaRPr lang="es-EC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B9471F6-5CF6-4BA3-3B50-EAB77F2C1A41}"/>
              </a:ext>
            </a:extLst>
          </p:cNvPr>
          <p:cNvSpPr>
            <a:spLocks noChangeAspect="1"/>
          </p:cNvSpPr>
          <p:nvPr/>
        </p:nvSpPr>
        <p:spPr>
          <a:xfrm>
            <a:off x="2318588" y="3669846"/>
            <a:ext cx="1080000" cy="1080000"/>
          </a:xfrm>
          <a:prstGeom prst="ellipse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IN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B3CEC61-8C00-8837-A87E-1A608E834A1B}"/>
              </a:ext>
            </a:extLst>
          </p:cNvPr>
          <p:cNvCxnSpPr>
            <a:cxnSpLocks/>
            <a:stCxn id="8" idx="6"/>
            <a:endCxn id="10" idx="1"/>
          </p:cNvCxnSpPr>
          <p:nvPr/>
        </p:nvCxnSpPr>
        <p:spPr>
          <a:xfrm>
            <a:off x="3398588" y="4209846"/>
            <a:ext cx="1625850" cy="9525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B755DB18-2622-7F39-6B67-789860CBCA21}"/>
              </a:ext>
            </a:extLst>
          </p:cNvPr>
          <p:cNvSpPr/>
          <p:nvPr/>
        </p:nvSpPr>
        <p:spPr>
          <a:xfrm>
            <a:off x="5024438" y="3813640"/>
            <a:ext cx="2171700" cy="811462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PROCESS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7B287CF6-74E2-DB15-7DC3-58AC1A3DAFC8}"/>
              </a:ext>
            </a:extLst>
          </p:cNvPr>
          <p:cNvCxnSpPr>
            <a:cxnSpLocks/>
            <a:stCxn id="10" idx="3"/>
            <a:endCxn id="12" idx="2"/>
          </p:cNvCxnSpPr>
          <p:nvPr/>
        </p:nvCxnSpPr>
        <p:spPr>
          <a:xfrm>
            <a:off x="7196138" y="4219371"/>
            <a:ext cx="1631700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6908EAB4-65AA-6980-C76D-FB105A7989A7}"/>
              </a:ext>
            </a:extLst>
          </p:cNvPr>
          <p:cNvSpPr>
            <a:spLocks noChangeAspect="1"/>
          </p:cNvSpPr>
          <p:nvPr/>
        </p:nvSpPr>
        <p:spPr>
          <a:xfrm>
            <a:off x="8827838" y="3679371"/>
            <a:ext cx="1080000" cy="1080000"/>
          </a:xfrm>
          <a:prstGeom prst="ellipse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dirty="0"/>
              <a:t>OUT</a:t>
            </a:r>
          </a:p>
        </p:txBody>
      </p:sp>
    </p:spTree>
    <p:extLst>
      <p:ext uri="{BB962C8B-B14F-4D97-AF65-F5344CB8AC3E}">
        <p14:creationId xmlns:p14="http://schemas.microsoft.com/office/powerpoint/2010/main" val="3920007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2D37-DCB5-7C85-B9B1-59ACB25C2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D0D895-8D2D-4E39-CB84-9A4276A1E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b="1" dirty="0">
                <a:solidFill>
                  <a:srgbClr val="002060"/>
                </a:solidFill>
              </a:rPr>
              <a:t>Introducción a la Asignatura: Programación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5A2ABD-5F17-ADD8-6546-A712817A4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C" sz="2400" dirty="0"/>
              <a:t>Desarrollar el </a:t>
            </a:r>
            <a:r>
              <a:rPr lang="es-EC" sz="2400" b="1" dirty="0"/>
              <a:t>pensamiento lógico y matemático</a:t>
            </a:r>
            <a:r>
              <a:rPr lang="es-EC" sz="2400" dirty="0"/>
              <a:t> a través del álgebra de Boole y la teoría de proposiciones.</a:t>
            </a:r>
          </a:p>
          <a:p>
            <a:r>
              <a:rPr lang="es-EC" sz="2400" dirty="0"/>
              <a:t>Aprender a </a:t>
            </a:r>
            <a:r>
              <a:rPr lang="es-EC" sz="2400" b="1" dirty="0"/>
              <a:t>diseñar algoritmos</a:t>
            </a:r>
            <a:r>
              <a:rPr lang="es-EC" sz="2400" dirty="0"/>
              <a:t> utilizando diferentes formas de representación y aplicando estructuras de control.</a:t>
            </a:r>
          </a:p>
          <a:p>
            <a:r>
              <a:rPr lang="es-EC" sz="2400" dirty="0"/>
              <a:t>Aplicar los </a:t>
            </a:r>
            <a:r>
              <a:rPr lang="es-EC" sz="2400" b="1" dirty="0"/>
              <a:t>fundamentos de un lenguaje de programación</a:t>
            </a:r>
            <a:r>
              <a:rPr lang="es-EC" sz="2400" dirty="0"/>
              <a:t>, incluyendo el uso de funciones, vectores y matrices, para construir aplicaciones básicas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132815-64B9-5926-DFDC-9268F92BE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422" y="6225833"/>
            <a:ext cx="3696789" cy="54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516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524B8-8236-DA91-180E-5F52955B5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C5021-910A-BE70-5914-5C27A5EB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Correos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E3C8B2-91EF-02BF-C4D0-0496234AB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2002559"/>
            <a:ext cx="9603275" cy="3294576"/>
          </a:xfrm>
        </p:spPr>
        <p:txBody>
          <a:bodyPr numCol="2">
            <a:noAutofit/>
          </a:bodyPr>
          <a:lstStyle/>
          <a:p>
            <a:r>
              <a:rPr lang="es-EC" sz="2400" dirty="0"/>
              <a:t>Mi correo:</a:t>
            </a:r>
          </a:p>
          <a:p>
            <a:pPr marL="0" indent="0">
              <a:buNone/>
            </a:pPr>
            <a:r>
              <a:rPr lang="es-EC" sz="2400" dirty="0">
                <a:hlinkClick r:id="rId2"/>
              </a:rPr>
              <a:t>ptorresp@ups.edu.ec</a:t>
            </a:r>
            <a:endParaRPr lang="es-EC" sz="2400" dirty="0"/>
          </a:p>
          <a:p>
            <a:endParaRPr lang="es-EC" sz="2400" dirty="0"/>
          </a:p>
          <a:p>
            <a:r>
              <a:rPr lang="es-EC" sz="2400" dirty="0"/>
              <a:t>Asunto:</a:t>
            </a:r>
          </a:p>
          <a:p>
            <a:pPr marL="0" indent="0">
              <a:buNone/>
            </a:pPr>
            <a:r>
              <a:rPr lang="es-EC" sz="2400" dirty="0"/>
              <a:t>PRO – P69 – xxxxxxxx</a:t>
            </a:r>
          </a:p>
          <a:p>
            <a:pPr marL="0" indent="0">
              <a:buNone/>
            </a:pPr>
            <a:endParaRPr lang="es-EC" sz="2400" dirty="0"/>
          </a:p>
          <a:p>
            <a:pPr marL="0" indent="0">
              <a:buNone/>
            </a:pPr>
            <a:endParaRPr lang="es-EC" sz="2400" dirty="0"/>
          </a:p>
          <a:p>
            <a:pPr marL="0" indent="0">
              <a:buNone/>
            </a:pPr>
            <a:endParaRPr lang="es-EC" sz="2400" dirty="0"/>
          </a:p>
          <a:p>
            <a:pPr marL="0" indent="0">
              <a:buNone/>
            </a:pPr>
            <a:endParaRPr lang="es-EC" sz="2400" dirty="0"/>
          </a:p>
          <a:p>
            <a:r>
              <a:rPr lang="es-EC" sz="2400" dirty="0"/>
              <a:t>Cuerpo de correo</a:t>
            </a:r>
          </a:p>
          <a:p>
            <a:pPr marL="0" indent="0">
              <a:buNone/>
            </a:pPr>
            <a:r>
              <a:rPr lang="es-EC" sz="2400" dirty="0"/>
              <a:t>Detalle del correo o situación.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AE5451-805C-14A3-3EEA-970BF728B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422" y="6225833"/>
            <a:ext cx="3696789" cy="54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74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EC4A2-3FFF-71E4-66F7-ED7A3AF6A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98449-848F-CC38-260B-19E4A9B11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178" y="91279"/>
            <a:ext cx="9603275" cy="1049235"/>
          </a:xfrm>
        </p:spPr>
        <p:txBody>
          <a:bodyPr/>
          <a:lstStyle/>
          <a:p>
            <a:r>
              <a:rPr lang="es-EC" dirty="0"/>
              <a:t>Notas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551429-0A55-9C66-AA11-791B71361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178" y="1144206"/>
            <a:ext cx="4965730" cy="3294576"/>
          </a:xfrm>
        </p:spPr>
        <p:txBody>
          <a:bodyPr/>
          <a:lstStyle/>
          <a:p>
            <a:r>
              <a:rPr lang="es-EC" dirty="0"/>
              <a:t>Primer Interciclo</a:t>
            </a:r>
          </a:p>
          <a:p>
            <a:pPr marL="457200" lvl="1" indent="0">
              <a:buNone/>
            </a:pPr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E272DD-81BE-2B05-9CCB-B3435A60D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422" y="6225833"/>
            <a:ext cx="3696789" cy="540888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CA8463A6-A5CD-D8CE-65E4-4420ECCA5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339796"/>
              </p:ext>
            </p:extLst>
          </p:nvPr>
        </p:nvGraphicFramePr>
        <p:xfrm>
          <a:off x="1083178" y="1730477"/>
          <a:ext cx="9603275" cy="4124688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036010">
                  <a:extLst>
                    <a:ext uri="{9D8B030D-6E8A-4147-A177-3AD203B41FA5}">
                      <a16:colId xmlns:a16="http://schemas.microsoft.com/office/drawing/2014/main" val="3827622273"/>
                    </a:ext>
                  </a:extLst>
                </a:gridCol>
                <a:gridCol w="5515535">
                  <a:extLst>
                    <a:ext uri="{9D8B030D-6E8A-4147-A177-3AD203B41FA5}">
                      <a16:colId xmlns:a16="http://schemas.microsoft.com/office/drawing/2014/main" val="3378255873"/>
                    </a:ext>
                  </a:extLst>
                </a:gridCol>
                <a:gridCol w="2051730">
                  <a:extLst>
                    <a:ext uri="{9D8B030D-6E8A-4147-A177-3AD203B41FA5}">
                      <a16:colId xmlns:a16="http://schemas.microsoft.com/office/drawing/2014/main" val="559501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Unidad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Activiad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Puntos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029646"/>
                  </a:ext>
                </a:extLst>
              </a:tr>
              <a:tr h="416288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PC: Preguntas Practicas sobre leyes </a:t>
                      </a:r>
                      <a:r>
                        <a:rPr lang="es-EC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(AVAC)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08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PC: Ejercicio </a:t>
                      </a:r>
                      <a:r>
                        <a:rPr lang="es-EC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 diagramas de algoritmos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63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PC: Preguntas Prácticas diagramas </a:t>
                      </a:r>
                      <a:r>
                        <a:rPr lang="es-EC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(AVAC)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309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EV: Evaluación U2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408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PC: Códigos de programación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0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PL: Estructuras de control e iterativas código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63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PC: Preguntas Prácticas sobre código </a:t>
                      </a:r>
                      <a:r>
                        <a:rPr lang="es-EC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(AVAC)</a:t>
                      </a:r>
                      <a:endParaRPr lang="es-EC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571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EV: Evaluacines U3 (Prac)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369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Examen Interciclo.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252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Totales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286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071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59B1F-E0E1-52DD-B11F-37F66BCFE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5A5EE-608C-6C5A-8B52-82ADD2DE1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178" y="91279"/>
            <a:ext cx="9603275" cy="1049235"/>
          </a:xfrm>
        </p:spPr>
        <p:txBody>
          <a:bodyPr/>
          <a:lstStyle/>
          <a:p>
            <a:r>
              <a:rPr lang="es-EC" dirty="0"/>
              <a:t>Notas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5244C3-306E-0ADC-9E55-C42296082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178" y="1144206"/>
            <a:ext cx="4965730" cy="3294576"/>
          </a:xfrm>
        </p:spPr>
        <p:txBody>
          <a:bodyPr/>
          <a:lstStyle/>
          <a:p>
            <a:r>
              <a:rPr lang="es-EC" dirty="0"/>
              <a:t>Segundo Interciclo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E5F281-43DA-A5A5-B9FD-273892A7B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422" y="6225833"/>
            <a:ext cx="3696789" cy="540888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3D378B87-BF19-8400-6157-81D92E678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079399"/>
              </p:ext>
            </p:extLst>
          </p:nvPr>
        </p:nvGraphicFramePr>
        <p:xfrm>
          <a:off x="1083177" y="2088823"/>
          <a:ext cx="9603275" cy="3012168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036010">
                  <a:extLst>
                    <a:ext uri="{9D8B030D-6E8A-4147-A177-3AD203B41FA5}">
                      <a16:colId xmlns:a16="http://schemas.microsoft.com/office/drawing/2014/main" val="3827622273"/>
                    </a:ext>
                  </a:extLst>
                </a:gridCol>
                <a:gridCol w="5515535">
                  <a:extLst>
                    <a:ext uri="{9D8B030D-6E8A-4147-A177-3AD203B41FA5}">
                      <a16:colId xmlns:a16="http://schemas.microsoft.com/office/drawing/2014/main" val="3378255873"/>
                    </a:ext>
                  </a:extLst>
                </a:gridCol>
                <a:gridCol w="2051730">
                  <a:extLst>
                    <a:ext uri="{9D8B030D-6E8A-4147-A177-3AD203B41FA5}">
                      <a16:colId xmlns:a16="http://schemas.microsoft.com/office/drawing/2014/main" val="559501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C" dirty="0"/>
                        <a:t>Unidad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Activiad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Puntos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029646"/>
                  </a:ext>
                </a:extLst>
              </a:tr>
              <a:tr h="416288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PC: Preguntas Prácticas codigo sintaxis </a:t>
                      </a:r>
                      <a:r>
                        <a:rPr lang="es-EC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(AVAC)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08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PC: Códigos de programación I2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63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PL: Practicas de Laboratorio Autonomas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309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EV: Evaluaciones Practicas U3 (Prac)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408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Proyecto Final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63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Examen Final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252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Totales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286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7133943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Personalizados 2">
      <a:dk1>
        <a:srgbClr val="000000"/>
      </a:dk1>
      <a:lt1>
        <a:srgbClr val="FFFFFF"/>
      </a:lt1>
      <a:dk2>
        <a:srgbClr val="182C4F"/>
      </a:dk2>
      <a:lt2>
        <a:srgbClr val="F8F8F8"/>
      </a:lt2>
      <a:accent1>
        <a:srgbClr val="182B4F"/>
      </a:accent1>
      <a:accent2>
        <a:srgbClr val="25427C"/>
      </a:accent2>
      <a:accent3>
        <a:srgbClr val="325AAF"/>
      </a:accent3>
      <a:accent4>
        <a:srgbClr val="3D77E5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Galería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11559</TotalTime>
  <Words>394</Words>
  <Application>Microsoft Macintosh PowerPoint</Application>
  <PresentationFormat>Panorámica</PresentationFormat>
  <Paragraphs>112</Paragraphs>
  <Slides>11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Arial</vt:lpstr>
      <vt:lpstr>Calibri</vt:lpstr>
      <vt:lpstr>Century Gothic</vt:lpstr>
      <vt:lpstr>Consolas</vt:lpstr>
      <vt:lpstr>Roboto</vt:lpstr>
      <vt:lpstr>Söhne</vt:lpstr>
      <vt:lpstr>system-ui</vt:lpstr>
      <vt:lpstr>Galería</vt:lpstr>
      <vt:lpstr>Presentación de PowerPoint</vt:lpstr>
      <vt:lpstr>Presentación de PowerPoint</vt:lpstr>
      <vt:lpstr>Presentación de PowerPoint</vt:lpstr>
      <vt:lpstr>Presentación de PowerPoint</vt:lpstr>
      <vt:lpstr>Programming</vt:lpstr>
      <vt:lpstr>Introducción a la Asignatura: Programación</vt:lpstr>
      <vt:lpstr>Introducción a la Asignatura: Programación</vt:lpstr>
      <vt:lpstr>Introducción a la Asignatura: Programación</vt:lpstr>
      <vt:lpstr>Correos</vt:lpstr>
      <vt:lpstr>Notas</vt:lpstr>
      <vt:lpstr>Notas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Pablo Torres</dc:creator>
  <cp:lastModifiedBy>Pablo Torres</cp:lastModifiedBy>
  <cp:revision>8</cp:revision>
  <dcterms:created xsi:type="dcterms:W3CDTF">2023-02-13T03:46:17Z</dcterms:created>
  <dcterms:modified xsi:type="dcterms:W3CDTF">2026-10-07T05:37:04Z</dcterms:modified>
</cp:coreProperties>
</file>